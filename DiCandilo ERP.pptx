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0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4572000" cy="6858000"/>
          </a:xfrm>
          <a:prstGeom prst="rect">
            <a:avLst/>
          </a:prstGeom>
          <a:solidFill>
            <a:srgbClr val="1A5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0" y="0"/>
            <a:ext cx="3959352" cy="6858000"/>
          </a:xfrm>
          <a:prstGeom prst="rect">
            <a:avLst/>
          </a:prstGeom>
          <a:solidFill>
            <a:srgbClr val="1A5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DiCandilo ERP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F0A800"/>
                </a:solidFill>
              </a:rPr>
              <a:t>The Metal Service Centre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A Business Case for DiCandilo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AAAAA"/>
                </a:solidFill>
              </a:rPr>
              <a:t>March 2026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28600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Purpose-Built.
Pay-As-You-Grow.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0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0A800"/>
                </a:solidFill>
              </a:rPr>
              <a:t>What does running your operations cost today?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530352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1A5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CC2222"/>
                </a:solidFill>
              </a:rPr>
              <a:t>$15,000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333333"/>
                </a:solidFill>
              </a:rPr>
              <a:t>per month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6616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333333"/>
                </a:solidFill>
              </a:rPr>
              <a:t>Typical enterprise ERP licence cost for a metal service centre of this size: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333333"/>
                </a:solidFill>
              </a:rPr>
              <a:t>• SAP Business One or Epicor Kinetic base licence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333333"/>
                </a:solidFill>
              </a:rPr>
              <a:t>• Plus $50–100k upfront implementation fees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333333"/>
                </a:solidFill>
              </a:rPr>
              <a:t>• Plus annual maintenance at 20% of licence value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333333"/>
                </a:solidFill>
              </a:rPr>
              <a:t>• Plus in-house IT / DBA staff to run it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333333"/>
                </a:solidFill>
              </a:rPr>
              <a:t>• Rigid, generic — not built for metal service centres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310896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A568F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1554480"/>
            <a:ext cx="530352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F0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8288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33333"/>
                </a:solidFill>
              </a:rPr>
              <a:t>AND…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46888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333333"/>
                </a:solidFill>
              </a:rPr>
              <a:t>The hidden costs nobody talks about: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333333"/>
                </a:solidFill>
              </a:rPr>
              <a:t>• 6–18 month implementation before you see value</a:t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333333"/>
                </a:solidFill>
              </a:rPr>
              <a:t>• Expensive consultants for every customisation</a:t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333333"/>
                </a:solidFill>
              </a:rPr>
              <a:t>• Staff trained on a generic system — not your workflow</a:t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333333"/>
                </a:solidFill>
              </a:rPr>
              <a:t>• You're locked in — switching costs are enormous</a:t>
            </a:r>
          </a:p>
          <a:p>
            <a:pPr algn="l">
              <a:spcBef>
                <a:spcPts val="300"/>
              </a:spcBef>
            </a:pPr>
            <a:r>
              <a:rPr sz="1200" b="1" i="0">
                <a:solidFill>
                  <a:srgbClr val="CC2222"/>
                </a:solidFill>
              </a:rPr>
              <a:t>• No MTR traceability, no nesting, no heat tracking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0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0A800"/>
                </a:solidFill>
              </a:rPr>
              <a:t>DiCandilo ERP — built for your industry, priced for your business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0" b="1" i="0">
                <a:solidFill>
                  <a:srgbClr val="F0A800"/>
                </a:solidFill>
              </a:rPr>
              <a:t>$5,000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51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FFFFFF"/>
                </a:solidFill>
              </a:rPr>
              <a:t>per month. All-inclusive.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200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0A800"/>
                </a:solidFill>
              </a:rPr>
              <a:t>No upfront cost. No implementation fee. No lock-in.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463040"/>
            <a:ext cx="45720" cy="4114800"/>
          </a:xfrm>
          <a:prstGeom prst="rect">
            <a:avLst/>
          </a:prstGeom>
          <a:solidFill>
            <a:srgbClr val="F0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46304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F0A800"/>
                </a:solidFill>
              </a:rPr>
              <a:t>What's included in $5k/month:</a:t>
            </a: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FFFFFF"/>
                </a:solidFill>
              </a:rPr>
              <a:t>✓  Full ERP platform — all modules, unlimited users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</a:rPr>
              <a:t>✓  Metal-specific: MTR traceability, heat tracking, nesting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</a:rPr>
              <a:t>✓  Inventory, Purchasing, Sales, Accounting, Shipping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</a:rPr>
              <a:t>✓  Production scheduling &amp; work orders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</a:rPr>
              <a:t>✓  Real-time dashboard &amp; BI reporting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</a:rPr>
              <a:t>✓  Customer portal with MTR access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</a:rPr>
              <a:t>✓  Barcode scanning &amp; label printing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</a:rPr>
              <a:t>✓  SOC 2 / NIST security &amp; full audit trail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</a:rPr>
              <a:t>✓  Ongoing support &amp; updates included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0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0A800"/>
                </a:solidFill>
              </a:rPr>
              <a:t>Year 1 and 5-year total cost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200400" cy="502920"/>
          </a:xfrm>
          <a:prstGeom prst="rect">
            <a:avLst/>
          </a:prstGeom>
          <a:solidFill>
            <a:srgbClr val="0D2B5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417320"/>
            <a:ext cx="2560320" cy="502920"/>
          </a:xfrm>
          <a:prstGeom prst="rect">
            <a:avLst/>
          </a:prstGeom>
          <a:solidFill>
            <a:srgbClr val="0D2B5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463040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Legacy ERP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79" y="1417320"/>
            <a:ext cx="2560320" cy="502920"/>
          </a:xfrm>
          <a:prstGeom prst="rect">
            <a:avLst/>
          </a:prstGeom>
          <a:solidFill>
            <a:srgbClr val="0D2B5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19" y="1463040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DiCandilo ERP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1417320"/>
            <a:ext cx="2560320" cy="502920"/>
          </a:xfrm>
          <a:prstGeom prst="rect">
            <a:avLst/>
          </a:prstGeom>
          <a:solidFill>
            <a:srgbClr val="0D2B5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1463040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You Save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920240"/>
            <a:ext cx="3200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659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</a:rPr>
              <a:t>Upfront / Implementation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66160" y="1920240"/>
            <a:ext cx="2560320" cy="502920"/>
          </a:xfrm>
          <a:prstGeom prst="rect">
            <a:avLst/>
          </a:prstGeom>
          <a:solidFill>
            <a:srgbClr val="FDEDED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1965960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2222"/>
                </a:solidFill>
              </a:rPr>
              <a:t>$50,000 – $100,000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79" y="1920240"/>
            <a:ext cx="2560320" cy="502920"/>
          </a:xfrm>
          <a:prstGeom prst="rect">
            <a:avLst/>
          </a:prstGeom>
          <a:solidFill>
            <a:srgbClr val="E8F0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19" y="1965960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568F"/>
                </a:solidFill>
              </a:rPr>
              <a:t>$0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0" y="1920240"/>
            <a:ext cx="2560320" cy="502920"/>
          </a:xfrm>
          <a:prstGeom prst="rect">
            <a:avLst/>
          </a:prstGeom>
          <a:solidFill>
            <a:srgbClr val="E8F7ED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1965960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7A3E"/>
                </a:solidFill>
              </a:rPr>
              <a:t>$50k–$100k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423160"/>
            <a:ext cx="3200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4688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</a:rPr>
              <a:t>Monthly Licence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66160" y="2423160"/>
            <a:ext cx="2560320" cy="502920"/>
          </a:xfrm>
          <a:prstGeom prst="rect">
            <a:avLst/>
          </a:prstGeom>
          <a:solidFill>
            <a:srgbClr val="FDEDED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2468880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2222"/>
                </a:solidFill>
              </a:rPr>
              <a:t>$15,000/mo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79" y="2423160"/>
            <a:ext cx="2560320" cy="502920"/>
          </a:xfrm>
          <a:prstGeom prst="rect">
            <a:avLst/>
          </a:prstGeom>
          <a:solidFill>
            <a:srgbClr val="E8F0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19" y="2468880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568F"/>
                </a:solidFill>
              </a:rPr>
              <a:t>$5,000/mo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0" y="2423160"/>
            <a:ext cx="2560320" cy="502920"/>
          </a:xfrm>
          <a:prstGeom prst="rect">
            <a:avLst/>
          </a:prstGeom>
          <a:solidFill>
            <a:srgbClr val="E8F7ED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0" y="2468880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7A3E"/>
                </a:solidFill>
              </a:rPr>
              <a:t>$10,000/mo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2926080"/>
            <a:ext cx="3200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29718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</a:rPr>
              <a:t>Year 1 Total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66160" y="2926080"/>
            <a:ext cx="2560320" cy="502920"/>
          </a:xfrm>
          <a:prstGeom prst="rect">
            <a:avLst/>
          </a:prstGeom>
          <a:solidFill>
            <a:srgbClr val="FDEDED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0" y="2971800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2222"/>
                </a:solidFill>
              </a:rPr>
              <a:t>$230,000+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79" y="2926080"/>
            <a:ext cx="2560320" cy="502920"/>
          </a:xfrm>
          <a:prstGeom prst="rect">
            <a:avLst/>
          </a:prstGeom>
          <a:solidFill>
            <a:srgbClr val="E8F0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19" y="2971800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568F"/>
                </a:solidFill>
              </a:rPr>
              <a:t>$60,000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0" y="2926080"/>
            <a:ext cx="2560320" cy="502920"/>
          </a:xfrm>
          <a:prstGeom prst="rect">
            <a:avLst/>
          </a:prstGeom>
          <a:solidFill>
            <a:srgbClr val="E8F7ED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78240" y="2971800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7A3E"/>
                </a:solidFill>
              </a:rPr>
              <a:t>$170,000+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3429000"/>
            <a:ext cx="3200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34747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</a:rPr>
              <a:t>5-Year Total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66160" y="3429000"/>
            <a:ext cx="2560320" cy="502920"/>
          </a:xfrm>
          <a:prstGeom prst="rect">
            <a:avLst/>
          </a:prstGeom>
          <a:solidFill>
            <a:srgbClr val="FDEDED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0" y="3474720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2222"/>
                </a:solidFill>
              </a:rPr>
              <a:t>$1,000,000+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79" y="3429000"/>
            <a:ext cx="2560320" cy="502920"/>
          </a:xfrm>
          <a:prstGeom prst="rect">
            <a:avLst/>
          </a:prstGeom>
          <a:solidFill>
            <a:srgbClr val="E8F0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19" y="3474720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568F"/>
                </a:solidFill>
              </a:rPr>
              <a:t>$300,000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686800" y="3429000"/>
            <a:ext cx="2560320" cy="502920"/>
          </a:xfrm>
          <a:prstGeom prst="rect">
            <a:avLst/>
          </a:prstGeom>
          <a:solidFill>
            <a:srgbClr val="E8F7ED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78240" y="3474720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7A3E"/>
                </a:solidFill>
              </a:rPr>
              <a:t>$700,000+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931920"/>
            <a:ext cx="3200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3977639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</a:rPr>
              <a:t>Time to Go-Live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66160" y="3931920"/>
            <a:ext cx="2560320" cy="502920"/>
          </a:xfrm>
          <a:prstGeom prst="rect">
            <a:avLst/>
          </a:prstGeom>
          <a:solidFill>
            <a:srgbClr val="FDEDED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0" y="3977639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2222"/>
                </a:solidFill>
              </a:rPr>
              <a:t>6–18 months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26479" y="3931920"/>
            <a:ext cx="2560320" cy="502920"/>
          </a:xfrm>
          <a:prstGeom prst="rect">
            <a:avLst/>
          </a:prstGeom>
          <a:solidFill>
            <a:srgbClr val="E8F0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17919" y="3977639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568F"/>
                </a:solidFill>
              </a:rPr>
              <a:t>3–6 months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686800" y="3931920"/>
            <a:ext cx="2560320" cy="502920"/>
          </a:xfrm>
          <a:prstGeom prst="rect">
            <a:avLst/>
          </a:prstGeom>
          <a:solidFill>
            <a:srgbClr val="E8F7ED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78240" y="3977639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7A3E"/>
                </a:solidFill>
              </a:rPr>
              <a:t>Faster value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4434840"/>
            <a:ext cx="3200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44805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</a:rPr>
              <a:t>Metal-Specific Features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66160" y="4434840"/>
            <a:ext cx="2560320" cy="502920"/>
          </a:xfrm>
          <a:prstGeom prst="rect">
            <a:avLst/>
          </a:prstGeom>
          <a:solidFill>
            <a:srgbClr val="FDEDED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57600" y="4480560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2222"/>
                </a:solidFill>
              </a:rPr>
              <a:t>❌  Generic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26479" y="4434840"/>
            <a:ext cx="2560320" cy="502920"/>
          </a:xfrm>
          <a:prstGeom prst="rect">
            <a:avLst/>
          </a:prstGeom>
          <a:solidFill>
            <a:srgbClr val="E8F0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17919" y="4480560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568F"/>
                </a:solidFill>
              </a:rPr>
              <a:t>✓  Purpose-built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686800" y="4434840"/>
            <a:ext cx="2560320" cy="502920"/>
          </a:xfrm>
          <a:prstGeom prst="rect">
            <a:avLst/>
          </a:prstGeom>
          <a:solidFill>
            <a:srgbClr val="E8F7ED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778240" y="4480560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7A3E"/>
                </a:solidFill>
              </a:rPr>
              <a:t>Less workaround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4937760"/>
            <a:ext cx="3200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49834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</a:rPr>
              <a:t>Contract Lock-in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566160" y="4937760"/>
            <a:ext cx="2560320" cy="502920"/>
          </a:xfrm>
          <a:prstGeom prst="rect">
            <a:avLst/>
          </a:prstGeom>
          <a:solidFill>
            <a:srgbClr val="FDEDED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0" y="4983480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2222"/>
                </a:solidFill>
              </a:rPr>
              <a:t>3–5 year minimum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26479" y="4937760"/>
            <a:ext cx="2560320" cy="502920"/>
          </a:xfrm>
          <a:prstGeom prst="rect">
            <a:avLst/>
          </a:prstGeom>
          <a:solidFill>
            <a:srgbClr val="E8F0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17919" y="4983480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568F"/>
                </a:solidFill>
              </a:rPr>
              <a:t>Month-to-month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686800" y="4937760"/>
            <a:ext cx="2560320" cy="502920"/>
          </a:xfrm>
          <a:prstGeom prst="rect">
            <a:avLst/>
          </a:prstGeom>
          <a:solidFill>
            <a:srgbClr val="E8F7ED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778240" y="4983480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7A3E"/>
                </a:solidFill>
              </a:rPr>
              <a:t>Full flexibility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5760" y="5760720"/>
            <a:ext cx="11430000" cy="777240"/>
          </a:xfrm>
          <a:prstGeom prst="rect">
            <a:avLst/>
          </a:prstGeom>
          <a:solidFill>
            <a:srgbClr val="F0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48640" y="580644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2B55"/>
                </a:solidFill>
              </a:rPr>
              <a:t>Over 5 years, DiCandilo ERP saves you more than $700,000 vs. a traditional enterprise ERP — with a system purpose-built for your business.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0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0A800"/>
                </a:solidFill>
              </a:rPr>
              <a:t>A phased integration model — you only pay as we deliver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3566160" cy="4389120"/>
          </a:xfrm>
          <a:prstGeom prst="rect">
            <a:avLst/>
          </a:prstGeom>
          <a:solidFill>
            <a:srgbClr val="1A5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3566160" cy="109728"/>
          </a:xfrm>
          <a:prstGeom prst="rect">
            <a:avLst/>
          </a:prstGeom>
          <a:solidFill>
            <a:srgbClr val="F0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0A800"/>
                </a:solidFill>
              </a:rPr>
              <a:t>Phase 1
Month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Foundation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834640"/>
            <a:ext cx="3017520" cy="36576"/>
          </a:xfrm>
          <a:prstGeom prst="rect">
            <a:avLst/>
          </a:prstGeom>
          <a:solidFill>
            <a:srgbClr val="F0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92608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System setup &amp; configuration
• User accounts &amp; permissions
• Chart of accounts
• Product &amp; customer master import
• Staff training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1417320"/>
            <a:ext cx="3566160" cy="4389120"/>
          </a:xfrm>
          <a:prstGeom prst="rect">
            <a:avLst/>
          </a:prstGeom>
          <a:solidFill>
            <a:srgbClr val="1A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0520" y="1417320"/>
            <a:ext cx="3566160" cy="109728"/>
          </a:xfrm>
          <a:prstGeom prst="rect">
            <a:avLst/>
          </a:prstGeom>
          <a:solidFill>
            <a:srgbClr val="F0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5087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0A800"/>
                </a:solidFill>
              </a:rPr>
              <a:t>Phase 2
Month 2–4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2860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Core Operations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2834640"/>
            <a:ext cx="3017520" cy="36576"/>
          </a:xfrm>
          <a:prstGeom prst="rect">
            <a:avLst/>
          </a:prstGeom>
          <a:solidFill>
            <a:srgbClr val="F0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292608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Inventory management live
• Purchase orders &amp; receiving
• Sales orders &amp; invoicing
• Basic reporting &amp; dashboard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09559" y="1417320"/>
            <a:ext cx="3566160" cy="4389120"/>
          </a:xfrm>
          <a:prstGeom prst="rect">
            <a:avLst/>
          </a:prstGeom>
          <a:solidFill>
            <a:srgbClr val="1A8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09559" y="1417320"/>
            <a:ext cx="3566160" cy="109728"/>
          </a:xfrm>
          <a:prstGeom prst="rect">
            <a:avLst/>
          </a:prstGeom>
          <a:solidFill>
            <a:srgbClr val="F0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9" y="15087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0A800"/>
                </a:solidFill>
              </a:rPr>
              <a:t>Phase 3
Month 4–6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9" y="22860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Full Platform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3879" y="2834640"/>
            <a:ext cx="3017520" cy="36576"/>
          </a:xfrm>
          <a:prstGeom prst="rect">
            <a:avLst/>
          </a:prstGeom>
          <a:solidFill>
            <a:srgbClr val="F0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39" y="292608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Production &amp; work orders
• Nesting &amp; cut optimisation
• Shipping &amp; BOL
• Customer portal
• Advanced automation &amp; BI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6200" y="32004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0A800"/>
                </a:solidFill>
              </a:rPr>
              <a:t>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39" y="32004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0A800"/>
                </a:solidFill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8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63093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A800"/>
                </a:solidFill>
              </a:rPr>
              <a:t>One flat monthly fee of $5,000 starts from Month 1. No payment required before go-live. No hidden fees. No lock-in contracts.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0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Platform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0A800"/>
                </a:solidFill>
              </a:rPr>
              <a:t>Built specifically for metal service centres — not adapted from generic 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3749039" cy="1920240"/>
          </a:xfrm>
          <a:prstGeom prst="rect">
            <a:avLst/>
          </a:prstGeom>
          <a:solidFill>
            <a:srgbClr val="FFFFFF"/>
          </a:solidFill>
          <a:ln>
            <a:solidFill>
              <a:srgbClr val="1A5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3749039" cy="64008"/>
          </a:xfrm>
          <a:prstGeom prst="rect">
            <a:avLst/>
          </a:prstGeom>
          <a:solidFill>
            <a:srgbClr val="1A5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7276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🔩  Material Traceability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011680"/>
            <a:ext cx="3474720" cy="27432"/>
          </a:xfrm>
          <a:prstGeom prst="rect">
            <a:avLst/>
          </a:prstGeom>
          <a:solidFill>
            <a:srgbClr val="F0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1031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Heat numbers, MTRs, mill certificates — full chain of custody from mill to customer.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1463040"/>
            <a:ext cx="3749039" cy="1920240"/>
          </a:xfrm>
          <a:prstGeom prst="rect">
            <a:avLst/>
          </a:prstGeom>
          <a:solidFill>
            <a:srgbClr val="FFFFFF"/>
          </a:solidFill>
          <a:ln>
            <a:solidFill>
              <a:srgbClr val="1A5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1463040"/>
            <a:ext cx="3749039" cy="64008"/>
          </a:xfrm>
          <a:prstGeom prst="rect">
            <a:avLst/>
          </a:prstGeom>
          <a:solidFill>
            <a:srgbClr val="1A5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57276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✂️  Nesting &amp; Cut Optimisation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2011680"/>
            <a:ext cx="3474720" cy="27432"/>
          </a:xfrm>
          <a:prstGeom prst="rect">
            <a:avLst/>
          </a:prstGeom>
          <a:solidFill>
            <a:srgbClr val="F0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21031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FFD algorithm minimises waste. Plate nesting API-ready for Sigmanest/Radan.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463040"/>
            <a:ext cx="3749039" cy="1920240"/>
          </a:xfrm>
          <a:prstGeom prst="rect">
            <a:avLst/>
          </a:prstGeom>
          <a:solidFill>
            <a:srgbClr val="FFFFFF"/>
          </a:solidFill>
          <a:ln>
            <a:solidFill>
              <a:srgbClr val="1A5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463040"/>
            <a:ext cx="3749039" cy="64008"/>
          </a:xfrm>
          <a:prstGeom prst="rect">
            <a:avLst/>
          </a:prstGeom>
          <a:solidFill>
            <a:srgbClr val="1A5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157276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📦  Multi-Location Inventory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75320" y="2011680"/>
            <a:ext cx="3474720" cy="27432"/>
          </a:xfrm>
          <a:prstGeom prst="rect">
            <a:avLst/>
          </a:prstGeom>
          <a:solidFill>
            <a:srgbClr val="F0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21031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Manage stock across unlimited branches, bays, and racks in real-time.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520440"/>
            <a:ext cx="3749039" cy="1920240"/>
          </a:xfrm>
          <a:prstGeom prst="rect">
            <a:avLst/>
          </a:prstGeom>
          <a:solidFill>
            <a:srgbClr val="FFFFFF"/>
          </a:solidFill>
          <a:ln>
            <a:solidFill>
              <a:srgbClr val="1A5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520440"/>
            <a:ext cx="3749039" cy="64008"/>
          </a:xfrm>
          <a:prstGeom prst="rect">
            <a:avLst/>
          </a:prstGeom>
          <a:solidFill>
            <a:srgbClr val="1A5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63016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💰  Order-to-Cash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069080"/>
            <a:ext cx="3474720" cy="27432"/>
          </a:xfrm>
          <a:prstGeom prst="rect">
            <a:avLst/>
          </a:prstGeom>
          <a:solidFill>
            <a:srgbClr val="F0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1605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Quote → Sales Order → Work Order → Shipment → Invoice → Payment. Fully integrated.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60" y="3520440"/>
            <a:ext cx="3749039" cy="1920240"/>
          </a:xfrm>
          <a:prstGeom prst="rect">
            <a:avLst/>
          </a:prstGeom>
          <a:solidFill>
            <a:srgbClr val="FFFFFF"/>
          </a:solidFill>
          <a:ln>
            <a:solidFill>
              <a:srgbClr val="1A5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51960" y="3520440"/>
            <a:ext cx="3749039" cy="64008"/>
          </a:xfrm>
          <a:prstGeom prst="rect">
            <a:avLst/>
          </a:prstGeom>
          <a:solidFill>
            <a:srgbClr val="1A5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0" y="363016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📊  Live Dashboard &amp; BI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89120" y="4069080"/>
            <a:ext cx="3474720" cy="27432"/>
          </a:xfrm>
          <a:prstGeom prst="rect">
            <a:avLst/>
          </a:prstGeom>
          <a:solidFill>
            <a:srgbClr val="F0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0" y="41605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Real-time KPIs, AR ageing, sales trends, stock alerts — no spreadsheets needed.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60" y="3520440"/>
            <a:ext cx="3749039" cy="1920240"/>
          </a:xfrm>
          <a:prstGeom prst="rect">
            <a:avLst/>
          </a:prstGeom>
          <a:solidFill>
            <a:srgbClr val="FFFFFF"/>
          </a:solidFill>
          <a:ln>
            <a:solidFill>
              <a:srgbClr val="1A5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38160" y="3520440"/>
            <a:ext cx="3749039" cy="64008"/>
          </a:xfrm>
          <a:prstGeom prst="rect">
            <a:avLst/>
          </a:prstGeom>
          <a:solidFill>
            <a:srgbClr val="1A5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5320" y="363016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🔐  Enterprise Security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75320" y="4069080"/>
            <a:ext cx="3474720" cy="27432"/>
          </a:xfrm>
          <a:prstGeom prst="rect">
            <a:avLst/>
          </a:prstGeom>
          <a:solidFill>
            <a:srgbClr val="F0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75320" y="41605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SOC 2, NIST CSF, MFA, full audit trail, role-based access control.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0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Why Now?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0A800"/>
                </a:solidFill>
              </a:rPr>
              <a:t>The right time to modernise your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02920" cy="713232"/>
          </a:xfrm>
          <a:prstGeom prst="rect">
            <a:avLst/>
          </a:prstGeom>
          <a:solidFill>
            <a:srgbClr val="F0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0876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2B55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41732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A800"/>
                </a:solidFill>
              </a:rPr>
              <a:t>Every month you delay costs $10,000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75564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The $10k/month gap between what you're paying (or would pay) and DiCandilo ERP is $120,000/year — compounding.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59152"/>
            <a:ext cx="502920" cy="713232"/>
          </a:xfrm>
          <a:prstGeom prst="rect">
            <a:avLst/>
          </a:prstGeom>
          <a:solidFill>
            <a:srgbClr val="F0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450592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2B55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35915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A800"/>
                </a:solidFill>
              </a:rPr>
              <a:t>Your competitors are digitalising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697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Metal service centres that modernise now will win on speed, accuracy, and traceability. The ones that don't will lose on margin.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300984"/>
            <a:ext cx="502920" cy="713232"/>
          </a:xfrm>
          <a:prstGeom prst="rect">
            <a:avLst/>
          </a:prstGeom>
          <a:solidFill>
            <a:srgbClr val="F0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392424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2B55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300984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A800"/>
                </a:solidFill>
              </a:rPr>
              <a:t>Legacy systems are accumulating debt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63931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Spreadsheets and disconnected systems create errors, compliance risk, and can't scale with your business.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242816"/>
            <a:ext cx="502920" cy="713232"/>
          </a:xfrm>
          <a:prstGeom prst="rect">
            <a:avLst/>
          </a:prstGeom>
          <a:solidFill>
            <a:srgbClr val="F0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334255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2B55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242816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A800"/>
                </a:solidFill>
              </a:rPr>
              <a:t>Implementation risk is zero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581144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No upfront commitment. No 18-month project before you see value. We go live module by module — you're operational within weeks.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184648"/>
            <a:ext cx="502920" cy="713232"/>
          </a:xfrm>
          <a:prstGeom prst="rect">
            <a:avLst/>
          </a:prstGeom>
          <a:solidFill>
            <a:srgbClr val="F0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5276088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2B55"/>
                </a:solidFill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184648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A800"/>
                </a:solidFill>
              </a:rPr>
              <a:t>The platform is production-ready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522976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DiCandilo ERP is already built, tested, and running. This isn't a startup pitch — we're offering an immediate solution.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0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We're Asking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0A800"/>
                </a:solidFill>
              </a:rPr>
              <a:t>A straightforward, low-risk commitment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48640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1A5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5486400" cy="91440"/>
          </a:xfrm>
          <a:prstGeom prst="rect">
            <a:avLst/>
          </a:prstGeom>
          <a:solidFill>
            <a:srgbClr val="1A5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5120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800" b="1" i="0">
                <a:solidFill>
                  <a:srgbClr val="0D2B55"/>
                </a:solidFill>
              </a:rPr>
              <a:t>The Offer</a:t>
            </a:r>
          </a:p>
          <a:p>
            <a:pPr algn="l">
              <a:spcBef>
                <a:spcPts val="800"/>
              </a:spcBef>
            </a:pPr>
            <a:r>
              <a:rPr sz="3200" b="1" i="0">
                <a:solidFill>
                  <a:srgbClr val="1A568F"/>
                </a:solidFill>
              </a:rPr>
              <a:t>$5,000 / month</a:t>
            </a:r>
          </a:p>
          <a:p>
            <a:pPr algn="l">
              <a:spcBef>
                <a:spcPts val="400"/>
              </a:spcBef>
            </a:pPr>
            <a:r>
              <a:rPr sz="1300" b="0" i="1">
                <a:solidFill>
                  <a:srgbClr val="333333"/>
                </a:solidFill>
              </a:rPr>
              <a:t>Starting from Month 1. No upfront fees.</a:t>
            </a:r>
          </a:p>
          <a:p>
            <a:pPr algn="l">
              <a:spcBef>
                <a:spcPts val="1000"/>
              </a:spcBef>
            </a:pPr>
            <a:r>
              <a:rPr sz="1000" b="0" i="0">
                <a:solidFill>
                  <a:srgbClr val="333333"/>
                </a:solidFill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300" b="0" i="0">
                <a:solidFill>
                  <a:srgbClr val="333333"/>
                </a:solidFill>
              </a:rPr>
              <a:t>✓  Full platform access — all modules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</a:rPr>
              <a:t>✓  Unlimited users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</a:rPr>
              <a:t>✓  Phased implementation over 3–6 months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</a:rPr>
              <a:t>✓  Dedicated implementation support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333333"/>
                </a:solidFill>
              </a:rPr>
              <a:t>✓  Ongoing support &amp; updates</a:t>
            </a:r>
          </a:p>
          <a:p>
            <a:pPr algn="l">
              <a:spcBef>
                <a:spcPts val="300"/>
              </a:spcBef>
            </a:pPr>
            <a:r>
              <a:rPr sz="1300" b="1" i="0">
                <a:solidFill>
                  <a:srgbClr val="0A7A3E"/>
                </a:solidFill>
              </a:rPr>
              <a:t>✓  Month-to-month — no lock-in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463040"/>
            <a:ext cx="5486400" cy="5029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63040"/>
            <a:ext cx="5486400" cy="91440"/>
          </a:xfrm>
          <a:prstGeom prst="rect">
            <a:avLst/>
          </a:prstGeom>
          <a:solidFill>
            <a:srgbClr val="F0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00200"/>
            <a:ext cx="5120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800" b="1" i="0">
                <a:solidFill>
                  <a:srgbClr val="F0A800"/>
                </a:solidFill>
              </a:rPr>
              <a:t>Zero Risk. Real Value.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800"/>
              </a:spcBef>
            </a:pPr>
            <a:r>
              <a:rPr sz="1500" b="1" i="0">
                <a:solidFill>
                  <a:srgbClr val="FFFFFF"/>
                </a:solidFill>
              </a:rPr>
              <a:t>No upfront payment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CCCCCC"/>
                </a:solidFill>
              </a:rPr>
              <a:t>Pay nothing until we go live on Phase 1.</a:t>
            </a:r>
          </a:p>
          <a:p>
            <a:pPr algn="l">
              <a:spcBef>
                <a:spcPts val="1200"/>
              </a:spcBef>
            </a:pPr>
            <a:r>
              <a:rPr sz="1500" b="1" i="0">
                <a:solidFill>
                  <a:srgbClr val="FFFFFF"/>
                </a:solidFill>
              </a:rPr>
              <a:t>No lock-in contract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CCCCCC"/>
                </a:solidFill>
              </a:rPr>
              <a:t>Month-to-month. Cancel any time.</a:t>
            </a:r>
          </a:p>
          <a:p>
            <a:pPr algn="l">
              <a:spcBef>
                <a:spcPts val="1200"/>
              </a:spcBef>
            </a:pPr>
            <a:r>
              <a:rPr sz="1500" b="1" i="0">
                <a:solidFill>
                  <a:srgbClr val="FFFFFF"/>
                </a:solidFill>
              </a:rPr>
              <a:t>Proven, working platform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CCCCCC"/>
                </a:solidFill>
              </a:rPr>
              <a:t>Built and tested. Not a prototype.</a:t>
            </a:r>
          </a:p>
          <a:p>
            <a:pPr algn="l">
              <a:spcBef>
                <a:spcPts val="1200"/>
              </a:spcBef>
            </a:pPr>
            <a:r>
              <a:rPr sz="1500" b="1" i="0">
                <a:solidFill>
                  <a:srgbClr val="FFFFFF"/>
                </a:solidFill>
              </a:rPr>
              <a:t>You own your data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CCCCCC"/>
                </a:solidFill>
              </a:rPr>
              <a:t>Full data export available at any time.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0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0A800"/>
                </a:solidFill>
              </a:rPr>
              <a:t>Let's get started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</a:rPr>
              <a:t>9</a:t>
            </a:r>
          </a:p>
        </p:txBody>
      </p:sp>
      <p:sp>
        <p:nvSpPr>
          <p:cNvPr id="7" name="Oval 6"/>
          <p:cNvSpPr/>
          <p:nvPr/>
        </p:nvSpPr>
        <p:spPr>
          <a:xfrm>
            <a:off x="365760" y="1463040"/>
            <a:ext cx="640080" cy="640080"/>
          </a:xfrm>
          <a:prstGeom prst="ellipse">
            <a:avLst/>
          </a:prstGeom>
          <a:solidFill>
            <a:srgbClr val="F0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630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2B55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1417320"/>
            <a:ext cx="10607040" cy="804672"/>
          </a:xfrm>
          <a:prstGeom prst="rect">
            <a:avLst/>
          </a:prstGeom>
          <a:solidFill>
            <a:srgbClr val="14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463040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A800"/>
                </a:solidFill>
              </a:rPr>
              <a:t>Agree in Principle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810512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Shake hands on the $5k/month arrangement. No paperwork required to begin.</a:t>
            </a:r>
          </a:p>
        </p:txBody>
      </p:sp>
      <p:sp>
        <p:nvSpPr>
          <p:cNvPr id="12" name="Oval 11"/>
          <p:cNvSpPr/>
          <p:nvPr/>
        </p:nvSpPr>
        <p:spPr>
          <a:xfrm>
            <a:off x="365760" y="2404872"/>
            <a:ext cx="640080" cy="640080"/>
          </a:xfrm>
          <a:prstGeom prst="ellipse">
            <a:avLst/>
          </a:prstGeom>
          <a:solidFill>
            <a:srgbClr val="F0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40487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2B55"/>
                </a:solidFill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88720" y="2359152"/>
            <a:ext cx="10607040" cy="804672"/>
          </a:xfrm>
          <a:prstGeom prst="rect">
            <a:avLst/>
          </a:prstGeom>
          <a:solidFill>
            <a:srgbClr val="14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404872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A800"/>
                </a:solidFill>
              </a:rPr>
              <a:t>Kick-off Workshop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75234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Half-day session: map your current workflows, configure the system for your business.</a:t>
            </a:r>
          </a:p>
        </p:txBody>
      </p:sp>
      <p:sp>
        <p:nvSpPr>
          <p:cNvPr id="17" name="Oval 16"/>
          <p:cNvSpPr/>
          <p:nvPr/>
        </p:nvSpPr>
        <p:spPr>
          <a:xfrm>
            <a:off x="365760" y="3346704"/>
            <a:ext cx="640080" cy="640080"/>
          </a:xfrm>
          <a:prstGeom prst="ellipse">
            <a:avLst/>
          </a:prstGeom>
          <a:solidFill>
            <a:srgbClr val="F0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346704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2B55"/>
                </a:solidFill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88720" y="3300984"/>
            <a:ext cx="10607040" cy="804672"/>
          </a:xfrm>
          <a:prstGeom prst="rect">
            <a:avLst/>
          </a:prstGeom>
          <a:solidFill>
            <a:srgbClr val="14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3346704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A800"/>
                </a:solidFill>
              </a:rPr>
              <a:t>Phase 1 Go-Live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694176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Inventory, purchasing, and sales modules live within 4–8 weeks.</a:t>
            </a:r>
          </a:p>
        </p:txBody>
      </p:sp>
      <p:sp>
        <p:nvSpPr>
          <p:cNvPr id="22" name="Oval 21"/>
          <p:cNvSpPr/>
          <p:nvPr/>
        </p:nvSpPr>
        <p:spPr>
          <a:xfrm>
            <a:off x="365760" y="4288536"/>
            <a:ext cx="640080" cy="640080"/>
          </a:xfrm>
          <a:prstGeom prst="ellipse">
            <a:avLst/>
          </a:prstGeom>
          <a:solidFill>
            <a:srgbClr val="F0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288536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2B55"/>
                </a:solidFill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88720" y="4242816"/>
            <a:ext cx="10607040" cy="804672"/>
          </a:xfrm>
          <a:prstGeom prst="rect">
            <a:avLst/>
          </a:prstGeom>
          <a:solidFill>
            <a:srgbClr val="14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4288536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A800"/>
                </a:solidFill>
              </a:rPr>
              <a:t>Full Integration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636007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Complete platform live within 3–6 months depending on complexity.</a:t>
            </a:r>
          </a:p>
        </p:txBody>
      </p:sp>
      <p:sp>
        <p:nvSpPr>
          <p:cNvPr id="27" name="Oval 26"/>
          <p:cNvSpPr/>
          <p:nvPr/>
        </p:nvSpPr>
        <p:spPr>
          <a:xfrm>
            <a:off x="365760" y="5230368"/>
            <a:ext cx="640080" cy="640080"/>
          </a:xfrm>
          <a:prstGeom prst="ellipse">
            <a:avLst/>
          </a:prstGeom>
          <a:solidFill>
            <a:srgbClr val="F0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523036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2B55"/>
                </a:solidFill>
              </a:rPr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88720" y="5184648"/>
            <a:ext cx="10607040" cy="804672"/>
          </a:xfrm>
          <a:prstGeom prst="rect">
            <a:avLst/>
          </a:prstGeom>
          <a:solidFill>
            <a:srgbClr val="14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0" y="5230368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A800"/>
                </a:solidFill>
              </a:rPr>
              <a:t>Ongoing &amp; Optimisation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57784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Continuous improvements, new features, and dedicated support.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5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0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0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01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Don't pay $15,000 a month.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360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0A800"/>
                </a:solidFill>
              </a:rPr>
              <a:t>Pay $5,000.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1">
                <a:solidFill>
                  <a:srgbClr val="FFFFFF"/>
                </a:solidFill>
              </a:rPr>
              <a:t>And pay nothing upfront.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0A800"/>
                </a:solidFill>
              </a:rPr>
              <a:t>DiCandilo ERP  |  Built for Metal. Priced for Growth.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57784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FF"/>
                </a:solidFill>
              </a:rPr>
              <a:t>support@dicandilo.com.au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